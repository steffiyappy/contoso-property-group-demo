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06240" y="0"/>
            <a:ext cx="38100" cy="6858000"/>
          </a:xfrm>
          <a:prstGeom prst="rect">
            <a:avLst/>
          </a:prstGeom>
          <a:solidFill>
            <a:srgbClr val="C49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4994E"/>
                </a:solidFill>
                <a:latin typeface="Calibri"/>
              </a:rPr>
              <a:t>CONTOSO PROPERTY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Calibri"/>
              </a:rPr>
              <a:t>Microsoft 365 Copilot · Executive Immersion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AI Assistant</a:t>
            </a:r>
          </a:p>
          <a:p>
            <a:pPr algn="l"/>
            <a:r>
              <a:rPr sz="2600" b="0" i="1">
                <a:solidFill>
                  <a:srgbClr val="C4994E"/>
                </a:solidFill>
                <a:latin typeface="Calibri"/>
              </a:rPr>
              <a:t>to</a:t>
            </a:r>
          </a:p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AI Doer.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023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4994E"/>
                </a:solidFill>
                <a:latin typeface="Calibri"/>
              </a:rPr>
              <a:t>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2519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Encik Daniel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General Manager · Township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5029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4994E"/>
                </a:solidFill>
                <a:latin typeface="Calibri"/>
              </a:rPr>
              <a:t>THE 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25780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Deliver the monthly Operating Committee management paper — KPIs, wins, issues, asks — board-ready by Friday.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1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ONE WORKDAY  ·  TEN COPILOT MOMENTS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71323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02C"/>
                </a:solidFill>
                <a:latin typeface="Calibri"/>
              </a:rPr>
              <a:t>From morning briefing to a board-ready management paper.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07899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Every artefact stays in the tenant. The GM owns every step.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1691640"/>
            <a:ext cx="7315200" cy="1078992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1D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691640"/>
            <a:ext cx="822960" cy="1078992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91640"/>
            <a:ext cx="82296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C4994E"/>
                </a:solidFill>
                <a:latin typeface="Calibr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180136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MORNING BRIEFING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075688"/>
            <a:ext cx="6263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202C"/>
                </a:solidFill>
                <a:latin typeface="Calibri"/>
              </a:rPr>
              <a:t>Researcher with Critique drafts the daily brief; translates Bahasa Indonesia content into English; self-reviews sources.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450592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1">
                <a:solidFill>
                  <a:srgbClr val="C4994E"/>
                </a:solidFill>
                <a:latin typeface="Calibri"/>
              </a:rPr>
              <a:t>Researcher · Critique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880360"/>
            <a:ext cx="7315200" cy="1078992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1D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0" y="2880360"/>
            <a:ext cx="822960" cy="1078992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880360"/>
            <a:ext cx="82296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C4994E"/>
                </a:solidFill>
                <a:latin typeface="Calibr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299008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MANAGEMENT PAPER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3264408"/>
            <a:ext cx="6263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202C"/>
                </a:solidFill>
                <a:latin typeface="Calibri"/>
              </a:rPr>
              <a:t>Four in-app Copilots: Excel does the numbers, Word writes the paper, PowerPoint turns it into a deck, Outlook sends the cascade.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3639312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1">
                <a:solidFill>
                  <a:srgbClr val="C4994E"/>
                </a:solidFill>
                <a:latin typeface="Calibri"/>
              </a:rPr>
              <a:t>Excel · Word · PPT · Outlook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69080"/>
            <a:ext cx="7315200" cy="1078992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1D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0" y="4069080"/>
            <a:ext cx="822960" cy="1078992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4069080"/>
            <a:ext cx="82296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C4994E"/>
                </a:solidFill>
                <a:latin typeface="Calibr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417880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MARKET INTELLIGENCE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4453128"/>
            <a:ext cx="6263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202C"/>
                </a:solidFill>
                <a:latin typeface="Calibri"/>
              </a:rPr>
              <a:t>Run a Critique pass and a Model Council on the same market question — two answers compared, the stronger one chosen.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32120" y="4828032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1">
                <a:solidFill>
                  <a:srgbClr val="C4994E"/>
                </a:solidFill>
                <a:latin typeface="Calibri"/>
              </a:rPr>
              <a:t>Researcher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5257800"/>
            <a:ext cx="7315200" cy="1078992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1D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72000" y="5257800"/>
            <a:ext cx="822960" cy="1078992"/>
          </a:xfrm>
          <a:prstGeom prst="round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5257800"/>
            <a:ext cx="82296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C4994E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536752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STRATEGY DECK &amp; VISUALS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5641848"/>
            <a:ext cx="6263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202C"/>
                </a:solidFill>
                <a:latin typeface="Calibri"/>
              </a:rPr>
              <a:t>BCG/McKinsey-style strategy deck on the corporate template, plus a Copilot-Create infographic. No design tool needed.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6016752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1">
                <a:solidFill>
                  <a:srgbClr val="C4994E"/>
                </a:solidFill>
                <a:latin typeface="Calibri"/>
              </a:rPr>
              <a:t>PowerPoint · Create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solidFill>
            <a:srgbClr val="C49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6409944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1F3D"/>
                </a:solidFill>
                <a:latin typeface="Calibri"/>
              </a:rPr>
              <a:t>THE VALUE: from morning briefing to a board-ready management paper · without leaving Microsoft 365.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